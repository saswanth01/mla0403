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7" r:id="rId7"/>
    <p:sldId id="268" r:id="rId8"/>
    <p:sldId id="269" r:id="rId9"/>
    <p:sldId id="270" r:id="rId10"/>
    <p:sldId id="271"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65.xml"/><Relationship Id="rId3" Type="http://schemas.openxmlformats.org/officeDocument/2006/relationships/image" Target="../media/image1.png"/><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tags" Target="../tags/tag102.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938530" y="850265"/>
            <a:ext cx="9799320" cy="2001520"/>
          </a:xfrm>
        </p:spPr>
        <p:txBody>
          <a:bodyPr>
            <a:normAutofit fontScale="90000"/>
          </a:bodyPr>
          <a:p>
            <a:r>
              <a:rPr lang="en-US" altLang="en-US" sz="3200" b="1">
                <a:solidFill>
                  <a:srgbClr val="FF0000"/>
                </a:solidFill>
                <a:latin typeface="Times New Roman" panose="02020603050405020304" charset="0"/>
                <a:cs typeface="Times New Roman" panose="02020603050405020304" charset="0"/>
              </a:rPr>
              <a:t>Deep Learning-Based Crowd Density Estimation and Anomaly Detection System Using Radial Basis Function Network (RBFN) with Open CV</a:t>
            </a:r>
            <a:endParaRPr lang="en-US" altLang="en-US" sz="3200" b="1">
              <a:solidFill>
                <a:srgbClr val="FF0000"/>
              </a:solidFill>
              <a:latin typeface="Times New Roman" panose="02020603050405020304" charset="0"/>
              <a:cs typeface="Times New Roman" panose="02020603050405020304" charset="0"/>
            </a:endParaRPr>
          </a:p>
        </p:txBody>
      </p:sp>
      <p:sp>
        <p:nvSpPr>
          <p:cNvPr id="3" name="Subtitle 2"/>
          <p:cNvSpPr>
            <a:spLocks noGrp="1"/>
          </p:cNvSpPr>
          <p:nvPr>
            <p:ph type="subTitle" idx="1"/>
            <p:custDataLst>
              <p:tags r:id="rId2"/>
            </p:custDataLst>
          </p:nvPr>
        </p:nvSpPr>
        <p:spPr>
          <a:xfrm>
            <a:off x="491490" y="4022725"/>
            <a:ext cx="11700510" cy="2686685"/>
          </a:xfrm>
        </p:spPr>
        <p:txBody>
          <a:bodyPr>
            <a:normAutofit fontScale="25000"/>
          </a:bodyPr>
          <a:p>
            <a:pPr lvl="1" indent="0" eaLnBrk="1" hangingPunct="1">
              <a:spcBef>
                <a:spcPts val="550"/>
              </a:spcBef>
              <a:buClr>
                <a:srgbClr val="4F81BD"/>
              </a:buClr>
              <a:buSzPct val="70000"/>
            </a:pPr>
            <a:r>
              <a:rPr lang="en-US" sz="8000" b="1" dirty="0">
                <a:solidFill>
                  <a:srgbClr val="C00000"/>
                </a:solidFill>
                <a:latin typeface="Times New Roman" panose="02020603050405020304" charset="0"/>
                <a:cs typeface="Times New Roman" panose="02020603050405020304" charset="0"/>
                <a:sym typeface="+mn-ea"/>
              </a:rPr>
              <a:t>Guided By							</a:t>
            </a:r>
            <a:r>
              <a:rPr lang="en-US" sz="8000" b="1">
                <a:solidFill>
                  <a:srgbClr val="C00000"/>
                </a:solidFill>
                <a:latin typeface="Times New Roman" panose="02020603050405020304" charset="0"/>
                <a:cs typeface="Times New Roman" panose="02020603050405020304" charset="0"/>
                <a:sym typeface="+mn-ea"/>
              </a:rPr>
              <a:t>	Students </a:t>
            </a:r>
            <a:r>
              <a:rPr lang="en-US" sz="8000" b="1" dirty="0">
                <a:solidFill>
                  <a:srgbClr val="C00000"/>
                </a:solidFill>
                <a:latin typeface="Times New Roman" panose="02020603050405020304" charset="0"/>
                <a:cs typeface="Times New Roman" panose="02020603050405020304" charset="0"/>
                <a:sym typeface="+mn-ea"/>
              </a:rPr>
              <a:t>Name</a:t>
            </a:r>
            <a:endParaRPr lang="en-US" sz="8000" b="1" dirty="0">
              <a:solidFill>
                <a:srgbClr val="C00000"/>
              </a:solidFill>
              <a:latin typeface="Times New Roman" panose="02020603050405020304" charset="0"/>
              <a:cs typeface="Times New Roman" panose="02020603050405020304" charset="0"/>
            </a:endParaRPr>
          </a:p>
          <a:p>
            <a:pPr lvl="1" indent="0" eaLnBrk="1" hangingPunct="1">
              <a:spcBef>
                <a:spcPts val="550"/>
              </a:spcBef>
              <a:buClr>
                <a:srgbClr val="4F81BD"/>
              </a:buClr>
              <a:buSzPct val="70000"/>
            </a:pPr>
            <a:r>
              <a:rPr lang="en-US" sz="8000" b="1" dirty="0">
                <a:solidFill>
                  <a:srgbClr val="002060"/>
                </a:solidFill>
                <a:latin typeface="Times New Roman" panose="02020603050405020304" charset="0"/>
                <a:cs typeface="Times New Roman" panose="02020603050405020304" charset="0"/>
                <a:sym typeface="+mn-ea"/>
              </a:rPr>
              <a:t>Dr.A.M.Arul Raj 						 </a:t>
            </a:r>
            <a:r>
              <a:rPr lang="en-IN" altLang="en-US" sz="8000" b="1" dirty="0">
                <a:solidFill>
                  <a:srgbClr val="002060"/>
                </a:solidFill>
                <a:latin typeface="Times New Roman" panose="02020603050405020304" charset="0"/>
                <a:cs typeface="Times New Roman" panose="02020603050405020304" charset="0"/>
                <a:sym typeface="+mn-ea"/>
              </a:rPr>
              <a:t>   </a:t>
            </a:r>
            <a:r>
              <a:rPr lang="en-US" altLang="en-IN" sz="8000" b="1" dirty="0">
                <a:solidFill>
                  <a:srgbClr val="002060"/>
                </a:solidFill>
                <a:latin typeface="Times New Roman" panose="02020603050405020304" charset="0"/>
                <a:cs typeface="Times New Roman" panose="02020603050405020304" charset="0"/>
                <a:sym typeface="+mn-ea"/>
              </a:rPr>
              <a:t>G Saswanth (192425150)</a:t>
            </a:r>
            <a:endParaRPr lang="en-US" sz="8000" b="1" dirty="0">
              <a:solidFill>
                <a:srgbClr val="002060"/>
              </a:solidFill>
              <a:latin typeface="Times New Roman" panose="02020603050405020304" charset="0"/>
              <a:cs typeface="Times New Roman" panose="02020603050405020304" charset="0"/>
            </a:endParaRPr>
          </a:p>
          <a:p>
            <a:pPr lvl="1" indent="0" eaLnBrk="1" hangingPunct="1">
              <a:spcBef>
                <a:spcPts val="550"/>
              </a:spcBef>
              <a:buClr>
                <a:srgbClr val="4F81BD"/>
              </a:buClr>
              <a:buSzPct val="70000"/>
            </a:pPr>
            <a:r>
              <a:rPr lang="en-US" sz="8000" b="1" dirty="0">
                <a:solidFill>
                  <a:srgbClr val="002060"/>
                </a:solidFill>
                <a:latin typeface="Times New Roman" panose="02020603050405020304" charset="0"/>
                <a:cs typeface="Times New Roman" panose="02020603050405020304" charset="0"/>
                <a:sym typeface="+mn-ea"/>
              </a:rPr>
              <a:t>Professor                                                                          p.Mokshith (192425149)</a:t>
            </a:r>
            <a:endParaRPr lang="en-US" sz="8000" b="1" dirty="0">
              <a:solidFill>
                <a:srgbClr val="002060"/>
              </a:solidFill>
              <a:latin typeface="Times New Roman" panose="02020603050405020304" charset="0"/>
              <a:cs typeface="Times New Roman" panose="02020603050405020304" charset="0"/>
              <a:sym typeface="+mn-ea"/>
            </a:endParaRPr>
          </a:p>
          <a:p>
            <a:pPr lvl="1" indent="0" eaLnBrk="1" hangingPunct="1">
              <a:spcBef>
                <a:spcPts val="550"/>
              </a:spcBef>
              <a:buClr>
                <a:srgbClr val="4F81BD"/>
              </a:buClr>
              <a:buSzPct val="70000"/>
            </a:pPr>
            <a:r>
              <a:rPr lang="en-US" sz="8000" b="1" dirty="0">
                <a:solidFill>
                  <a:srgbClr val="002060"/>
                </a:solidFill>
                <a:latin typeface="Times New Roman" panose="02020603050405020304" charset="0"/>
                <a:cs typeface="Times New Roman" panose="02020603050405020304" charset="0"/>
                <a:sym typeface="+mn-ea"/>
              </a:rPr>
              <a:t>                                                                            partha saradhi</a:t>
            </a:r>
            <a:endParaRPr lang="en-US" sz="8000" b="1" dirty="0">
              <a:solidFill>
                <a:srgbClr val="002060"/>
              </a:solidFill>
              <a:latin typeface="Times New Roman" panose="02020603050405020304" charset="0"/>
              <a:cs typeface="Times New Roman" panose="02020603050405020304" charset="0"/>
              <a:sym typeface="+mn-ea"/>
            </a:endParaRPr>
          </a:p>
          <a:p>
            <a:pPr lvl="1" indent="0" eaLnBrk="1" hangingPunct="1">
              <a:spcBef>
                <a:spcPts val="550"/>
              </a:spcBef>
              <a:buClr>
                <a:srgbClr val="4F81BD"/>
              </a:buClr>
              <a:buSzPct val="70000"/>
            </a:pPr>
            <a:r>
              <a:rPr lang="en-US" sz="8000" b="1" dirty="0">
                <a:solidFill>
                  <a:srgbClr val="002060"/>
                </a:solidFill>
                <a:latin typeface="Times New Roman" panose="02020603050405020304" charset="0"/>
                <a:cs typeface="Times New Roman" panose="02020603050405020304" charset="0"/>
                <a:sym typeface="+mn-ea"/>
              </a:rPr>
              <a:t>                                                                                           Likith reddy		</a:t>
            </a:r>
            <a:r>
              <a:rPr lang="en-US" sz="2400" b="1" dirty="0">
                <a:solidFill>
                  <a:srgbClr val="002060"/>
                </a:solidFill>
                <a:latin typeface="Times New Roman" panose="02020603050405020304" charset="0"/>
                <a:cs typeface="Times New Roman" panose="02020603050405020304" charset="0"/>
                <a:sym typeface="+mn-ea"/>
              </a:rPr>
              <a:t>	 					     	</a:t>
            </a:r>
            <a:endParaRPr lang="en-US"/>
          </a:p>
        </p:txBody>
      </p:sp>
      <p:sp>
        <p:nvSpPr>
          <p:cNvPr id="4" name="Text Box 3"/>
          <p:cNvSpPr txBox="1"/>
          <p:nvPr/>
        </p:nvSpPr>
        <p:spPr>
          <a:xfrm>
            <a:off x="1778000" y="3074035"/>
            <a:ext cx="6350000" cy="1124585"/>
          </a:xfrm>
          <a:prstGeom prst="rect">
            <a:avLst/>
          </a:prstGeom>
        </p:spPr>
        <p:txBody>
          <a:bodyPr>
            <a:noAutofit/>
            <a:extLst>
              <a:ext uri="{4A0BC546-FE56-4ADE-93B0-CB8AF2F6F144}">
                <wpsdc:textFrameExt xmlns:wpsdc="http://www.wps.cn/officeDocument/2022/drawingmlCustomData" type="text"/>
              </a:ext>
            </a:extLst>
          </a:bodyPr>
          <a:p>
            <a:pPr algn="ctr"/>
            <a:r>
              <a:rPr lang="en-US" sz="2800">
                <a:latin typeface="Times New Roman" panose="02020603050405020304" charset="0"/>
                <a:ea typeface="Microsoft YaHei" panose="020B0503020204020204" charset="-122"/>
                <a:cs typeface="Times New Roman" panose="02020603050405020304" charset="0"/>
              </a:rPr>
              <a:t>MLA0403-DEEP LEARNING</a:t>
            </a:r>
            <a:endParaRPr lang="en-US" sz="2800">
              <a:latin typeface="Times New Roman" panose="02020603050405020304" charset="0"/>
              <a:ea typeface="Microsoft YaHei" panose="020B0503020204020204" charset="-122"/>
              <a:cs typeface="Times New Roman" panose="02020603050405020304" charset="0"/>
            </a:endParaRPr>
          </a:p>
        </p:txBody>
      </p:sp>
      <p:pic>
        <p:nvPicPr>
          <p:cNvPr id="5" name="Picture 2" descr="SSE-Computer Science and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670" y="202565"/>
            <a:ext cx="11617960" cy="106426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solidFill>
                  <a:srgbClr val="FF0000"/>
                </a:solidFill>
                <a:latin typeface="Times New Roman" panose="02020603050405020304" charset="0"/>
                <a:cs typeface="Times New Roman" panose="02020603050405020304" charset="0"/>
              </a:rPr>
              <a:t>Abstract</a:t>
            </a:r>
            <a:endParaRPr lang="en-US">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algn="just"/>
            <a:r>
              <a:rPr lang="en-US" altLang="en-US" sz="2000">
                <a:latin typeface="Times New Roman" panose="02020603050405020304" charset="0"/>
                <a:cs typeface="Times New Roman" panose="02020603050405020304" charset="0"/>
              </a:rPr>
              <a:t>Developed an AI-based system for real-time crowd density estimation and anomaly detection.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Used OpenCV for video capture, preprocessing, and human detection.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Applied the Radial Basis Function Network (RBFN) for crowd density classification.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Classified crowd density into Low, Medium, and High levels.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Detected abnormal crowd behavior such as overcrowding and panic movement.</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Generated instant alerts for security personnel during emergencies.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Reduced manual monitoring and improved surveillance efficiency.</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Enhanced public safety through intelligent video surveillance.</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solidFill>
                  <a:srgbClr val="FF0000"/>
                </a:solidFill>
              </a:rPr>
              <a:t>Introduction</a:t>
            </a:r>
            <a:endParaRPr lang="en-US">
              <a:solidFill>
                <a:srgbClr val="FF0000"/>
              </a:solidFill>
            </a:endParaRPr>
          </a:p>
        </p:txBody>
      </p:sp>
      <p:sp>
        <p:nvSpPr>
          <p:cNvPr id="3" name="Content Placeholder 2"/>
          <p:cNvSpPr>
            <a:spLocks noGrp="1"/>
          </p:cNvSpPr>
          <p:nvPr>
            <p:ph idx="1"/>
            <p:custDataLst>
              <p:tags r:id="rId2"/>
            </p:custDataLst>
          </p:nvPr>
        </p:nvSpPr>
        <p:spPr/>
        <p:txBody>
          <a:bodyPr>
            <a:noAutofit/>
          </a:bodyPr>
          <a:p>
            <a:r>
              <a:rPr lang="en-US" altLang="en-US" sz="2000">
                <a:latin typeface="Times New Roman" panose="02020603050405020304" charset="0"/>
                <a:cs typeface="Times New Roman" panose="02020603050405020304" charset="0"/>
              </a:rPr>
              <a:t>Rapid urbanization has increased the need for intelligent crowd monitoring systems.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Manual CCTV monitoring is time-consuming and prone to human errors.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Deep learning enables automatic crowd analysis with higher accuracy.</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OpenCV performs image processing and feature extraction from surveillance videos.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RBFN efficiently estimates crowd density using extracted features.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The system continuously monitors crowd movement in real time.</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Automatic alerts help authorities respond quickly to abnormal situations.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Suitable for smart city and public security applications</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ltLang="en-US">
                <a:solidFill>
                  <a:srgbClr val="FF0000"/>
                </a:solidFill>
                <a:latin typeface="Times New Roman" panose="02020603050405020304" charset="0"/>
                <a:cs typeface="Times New Roman" panose="02020603050405020304" charset="0"/>
              </a:rPr>
              <a:t>Literature Review</a:t>
            </a:r>
            <a:endParaRPr lang="en-US" altLang="en-US">
              <a:solidFill>
                <a:srgbClr val="FF0000"/>
              </a:solidFill>
              <a:latin typeface="Times New Roman" panose="02020603050405020304" charset="0"/>
              <a:cs typeface="Times New Roman" panose="02020603050405020304" charset="0"/>
            </a:endParaRPr>
          </a:p>
        </p:txBody>
      </p:sp>
      <p:graphicFrame>
        <p:nvGraphicFramePr>
          <p:cNvPr id="4" name="Content Placeholder 3"/>
          <p:cNvGraphicFramePr/>
          <p:nvPr>
            <p:ph idx="1"/>
            <p:custDataLst>
              <p:tags r:id="rId2"/>
            </p:custDataLst>
          </p:nvPr>
        </p:nvGraphicFramePr>
        <p:xfrm>
          <a:off x="608330" y="1490345"/>
          <a:ext cx="10969625" cy="4894580"/>
        </p:xfrm>
        <a:graphic>
          <a:graphicData uri="http://schemas.openxmlformats.org/drawingml/2006/table">
            <a:tbl>
              <a:tblPr firstRow="1" bandRow="1">
                <a:tableStyleId>{5C22544A-7EE6-4342-B048-85BDC9FD1C3A}</a:tableStyleId>
              </a:tblPr>
              <a:tblGrid>
                <a:gridCol w="2193925"/>
                <a:gridCol w="2193925"/>
                <a:gridCol w="2193925"/>
                <a:gridCol w="2193925"/>
                <a:gridCol w="2193925"/>
              </a:tblGrid>
              <a:tr h="582930">
                <a:tc>
                  <a:txBody>
                    <a:bodyPr/>
                    <a:p>
                      <a:pPr algn="ctr"/>
                      <a:r>
                        <a:rPr sz="1100"/>
                        <a:t>S. No.</a:t>
                      </a:r>
                      <a:endParaRPr sz="1100"/>
                    </a:p>
                  </a:txBody>
                  <a:tcPr marL="0" marR="0" marT="0" marB="0" anchor="ctr" anchorCtr="0"/>
                </a:tc>
                <a:tc>
                  <a:txBody>
                    <a:bodyPr/>
                    <a:p>
                      <a:r>
                        <a:rPr sz="1100"/>
                        <a:t>Author(s)</a:t>
                      </a:r>
                      <a:endParaRPr sz="1100"/>
                    </a:p>
                  </a:txBody>
                  <a:tcPr marL="0" marR="0" marT="0" marB="0" anchor="ctr" anchorCtr="0"/>
                </a:tc>
                <a:tc>
                  <a:txBody>
                    <a:bodyPr/>
                    <a:p>
                      <a:pPr algn="ctr"/>
                      <a:r>
                        <a:rPr sz="1100"/>
                        <a:t>Year</a:t>
                      </a:r>
                      <a:endParaRPr sz="1100"/>
                    </a:p>
                  </a:txBody>
                  <a:tcPr marL="0" marR="0" marT="0" marB="0" anchor="ctr" anchorCtr="0"/>
                </a:tc>
                <a:tc>
                  <a:txBody>
                    <a:bodyPr/>
                    <a:p>
                      <a:r>
                        <a:rPr sz="1100"/>
                        <a:t>Method / Technique</a:t>
                      </a:r>
                      <a:endParaRPr sz="1100"/>
                    </a:p>
                  </a:txBody>
                  <a:tcPr marL="0" marR="0" marT="0" marB="0" anchor="ctr" anchorCtr="0"/>
                </a:tc>
                <a:tc>
                  <a:txBody>
                    <a:bodyPr/>
                    <a:p>
                      <a:r>
                        <a:rPr sz="1100"/>
                        <a:t>Key Findings</a:t>
                      </a:r>
                      <a:endParaRPr sz="1100"/>
                    </a:p>
                  </a:txBody>
                  <a:tcPr marL="0" marR="0" marT="0" marB="0" anchor="ctr" anchorCtr="0"/>
                </a:tc>
              </a:tr>
              <a:tr h="582295">
                <a:tc>
                  <a:txBody>
                    <a:bodyPr/>
                    <a:p>
                      <a:pPr algn="ctr"/>
                      <a:r>
                        <a:rPr sz="1100"/>
                        <a:t>1</a:t>
                      </a:r>
                      <a:endParaRPr sz="1100"/>
                    </a:p>
                  </a:txBody>
                  <a:tcPr marL="0" marR="0" marT="0" marB="0" anchor="ctr" anchorCtr="0"/>
                </a:tc>
                <a:tc>
                  <a:txBody>
                    <a:bodyPr/>
                    <a:p>
                      <a:r>
                        <a:rPr sz="1100"/>
                        <a:t>Viola &amp; Jones</a:t>
                      </a:r>
                      <a:endParaRPr sz="1100"/>
                    </a:p>
                  </a:txBody>
                  <a:tcPr marL="0" marR="0" marT="0" marB="0" anchor="ctr" anchorCtr="0"/>
                </a:tc>
                <a:tc>
                  <a:txBody>
                    <a:bodyPr/>
                    <a:p>
                      <a:pPr algn="ctr"/>
                      <a:r>
                        <a:rPr sz="1100"/>
                        <a:t>2001</a:t>
                      </a:r>
                      <a:endParaRPr sz="1100"/>
                    </a:p>
                  </a:txBody>
                  <a:tcPr marL="0" marR="0" marT="0" marB="0" anchor="ctr" anchorCtr="0"/>
                </a:tc>
                <a:tc>
                  <a:txBody>
                    <a:bodyPr/>
                    <a:p>
                      <a:r>
                        <a:rPr sz="1100"/>
                        <a:t>Haar Cascade Classifier</a:t>
                      </a:r>
                      <a:endParaRPr sz="1100"/>
                    </a:p>
                  </a:txBody>
                  <a:tcPr marL="0" marR="0" marT="0" marB="0" anchor="ctr" anchorCtr="0"/>
                </a:tc>
                <a:tc>
                  <a:txBody>
                    <a:bodyPr/>
                    <a:p>
                      <a:r>
                        <a:rPr sz="1100"/>
                        <a:t>Fast human detection but less effective in dense crowds.</a:t>
                      </a:r>
                      <a:endParaRPr sz="1100"/>
                    </a:p>
                  </a:txBody>
                  <a:tcPr marL="0" marR="0" marT="0" marB="0" anchor="ctr" anchorCtr="0"/>
                </a:tc>
              </a:tr>
              <a:tr h="582930">
                <a:tc>
                  <a:txBody>
                    <a:bodyPr/>
                    <a:p>
                      <a:pPr algn="ctr"/>
                      <a:r>
                        <a:rPr sz="1100"/>
                        <a:t>2</a:t>
                      </a:r>
                      <a:endParaRPr sz="1100"/>
                    </a:p>
                  </a:txBody>
                  <a:tcPr marL="0" marR="0" marT="0" marB="0" anchor="ctr" anchorCtr="0"/>
                </a:tc>
                <a:tc>
                  <a:txBody>
                    <a:bodyPr/>
                    <a:p>
                      <a:r>
                        <a:rPr sz="1100"/>
                        <a:t>Dalal &amp; Triggs</a:t>
                      </a:r>
                      <a:endParaRPr sz="1100"/>
                    </a:p>
                  </a:txBody>
                  <a:tcPr marL="0" marR="0" marT="0" marB="0" anchor="ctr" anchorCtr="0"/>
                </a:tc>
                <a:tc>
                  <a:txBody>
                    <a:bodyPr/>
                    <a:p>
                      <a:pPr algn="ctr"/>
                      <a:r>
                        <a:rPr sz="1100"/>
                        <a:t>2005</a:t>
                      </a:r>
                      <a:endParaRPr sz="1100"/>
                    </a:p>
                  </a:txBody>
                  <a:tcPr marL="0" marR="0" marT="0" marB="0" anchor="ctr" anchorCtr="0"/>
                </a:tc>
                <a:tc>
                  <a:txBody>
                    <a:bodyPr/>
                    <a:p>
                      <a:r>
                        <a:rPr sz="1100"/>
                        <a:t>HOG (Histogram of Oriented Gradients)</a:t>
                      </a:r>
                      <a:endParaRPr sz="1100"/>
                    </a:p>
                  </a:txBody>
                  <a:tcPr marL="0" marR="0" marT="0" marB="0" anchor="ctr" anchorCtr="0"/>
                </a:tc>
                <a:tc>
                  <a:txBody>
                    <a:bodyPr/>
                    <a:p>
                      <a:r>
                        <a:rPr sz="1100"/>
                        <a:t>Improved pedestrian detection with better feature extraction.</a:t>
                      </a:r>
                      <a:endParaRPr sz="1100"/>
                    </a:p>
                  </a:txBody>
                  <a:tcPr marL="0" marR="0" marT="0" marB="0" anchor="ctr" anchorCtr="0"/>
                </a:tc>
              </a:tr>
              <a:tr h="582295">
                <a:tc>
                  <a:txBody>
                    <a:bodyPr/>
                    <a:p>
                      <a:pPr algn="ctr"/>
                      <a:r>
                        <a:rPr sz="1100"/>
                        <a:t>3</a:t>
                      </a:r>
                      <a:endParaRPr sz="1100"/>
                    </a:p>
                  </a:txBody>
                  <a:tcPr marL="0" marR="0" marT="0" marB="0" anchor="ctr" anchorCtr="0"/>
                </a:tc>
                <a:tc>
                  <a:txBody>
                    <a:bodyPr/>
                    <a:p>
                      <a:r>
                        <a:rPr sz="1100"/>
                        <a:t>Zhang et al.</a:t>
                      </a:r>
                      <a:endParaRPr sz="1100"/>
                    </a:p>
                  </a:txBody>
                  <a:tcPr marL="0" marR="0" marT="0" marB="0" anchor="ctr" anchorCtr="0"/>
                </a:tc>
                <a:tc>
                  <a:txBody>
                    <a:bodyPr/>
                    <a:p>
                      <a:pPr algn="ctr"/>
                      <a:r>
                        <a:rPr sz="1100"/>
                        <a:t>2016</a:t>
                      </a:r>
                      <a:endParaRPr sz="1100"/>
                    </a:p>
                  </a:txBody>
                  <a:tcPr marL="0" marR="0" marT="0" marB="0" anchor="ctr" anchorCtr="0"/>
                </a:tc>
                <a:tc>
                  <a:txBody>
                    <a:bodyPr/>
                    <a:p>
                      <a:r>
                        <a:rPr sz="1100"/>
                        <a:t>Multi-Column CNN (MCNN)</a:t>
                      </a:r>
                      <a:endParaRPr sz="1100"/>
                    </a:p>
                  </a:txBody>
                  <a:tcPr marL="0" marR="0" marT="0" marB="0" anchor="ctr" anchorCtr="0"/>
                </a:tc>
                <a:tc>
                  <a:txBody>
                    <a:bodyPr/>
                    <a:p>
                      <a:r>
                        <a:rPr sz="1100"/>
                        <a:t>Achieved accurate crowd density estimation using deep learning.</a:t>
                      </a:r>
                      <a:endParaRPr sz="1100"/>
                    </a:p>
                  </a:txBody>
                  <a:tcPr marL="0" marR="0" marT="0" marB="0" anchor="ctr" anchorCtr="0"/>
                </a:tc>
              </a:tr>
              <a:tr h="769620">
                <a:tc>
                  <a:txBody>
                    <a:bodyPr/>
                    <a:p>
                      <a:pPr algn="ctr"/>
                      <a:r>
                        <a:rPr sz="1100"/>
                        <a:t>4</a:t>
                      </a:r>
                      <a:endParaRPr sz="1100"/>
                    </a:p>
                  </a:txBody>
                  <a:tcPr marL="0" marR="0" marT="0" marB="0" anchor="ctr" anchorCtr="0"/>
                </a:tc>
                <a:tc>
                  <a:txBody>
                    <a:bodyPr/>
                    <a:p>
                      <a:r>
                        <a:rPr sz="1100"/>
                        <a:t>Sindagi &amp; Patel</a:t>
                      </a:r>
                      <a:endParaRPr sz="1100"/>
                    </a:p>
                  </a:txBody>
                  <a:tcPr marL="0" marR="0" marT="0" marB="0" anchor="ctr" anchorCtr="0"/>
                </a:tc>
                <a:tc>
                  <a:txBody>
                    <a:bodyPr/>
                    <a:p>
                      <a:pPr algn="ctr"/>
                      <a:r>
                        <a:rPr sz="1100"/>
                        <a:t>2018</a:t>
                      </a:r>
                      <a:endParaRPr sz="1100"/>
                    </a:p>
                  </a:txBody>
                  <a:tcPr marL="0" marR="0" marT="0" marB="0" anchor="ctr" anchorCtr="0"/>
                </a:tc>
                <a:tc>
                  <a:txBody>
                    <a:bodyPr/>
                    <a:p>
                      <a:r>
                        <a:rPr sz="1100"/>
                        <a:t>CNN-Based Crowd Counting</a:t>
                      </a:r>
                      <a:endParaRPr sz="1100"/>
                    </a:p>
                  </a:txBody>
                  <a:tcPr marL="0" marR="0" marT="0" marB="0" anchor="ctr" anchorCtr="0"/>
                </a:tc>
                <a:tc>
                  <a:txBody>
                    <a:bodyPr/>
                    <a:p>
                      <a:r>
                        <a:rPr sz="1100"/>
                        <a:t>Improved density estimation accuracy but required high computational power.</a:t>
                      </a:r>
                      <a:endParaRPr sz="1100"/>
                    </a:p>
                  </a:txBody>
                  <a:tcPr marL="0" marR="0" marT="0" marB="0" anchor="ctr" anchorCtr="0"/>
                </a:tc>
              </a:tr>
              <a:tr h="768985">
                <a:tc>
                  <a:txBody>
                    <a:bodyPr/>
                    <a:p>
                      <a:pPr algn="ctr"/>
                      <a:r>
                        <a:rPr sz="1100"/>
                        <a:t>5</a:t>
                      </a:r>
                      <a:endParaRPr sz="1100"/>
                    </a:p>
                  </a:txBody>
                  <a:tcPr marL="0" marR="0" marT="0" marB="0" anchor="ctr" anchorCtr="0"/>
                </a:tc>
                <a:tc>
                  <a:txBody>
                    <a:bodyPr/>
                    <a:p>
                      <a:r>
                        <a:rPr sz="1100"/>
                        <a:t>OpenCV Community</a:t>
                      </a:r>
                      <a:endParaRPr sz="1100"/>
                    </a:p>
                  </a:txBody>
                  <a:tcPr marL="0" marR="0" marT="0" marB="0" anchor="ctr" anchorCtr="0"/>
                </a:tc>
                <a:tc>
                  <a:txBody>
                    <a:bodyPr/>
                    <a:p>
                      <a:pPr algn="ctr"/>
                      <a:r>
                        <a:rPr sz="1100"/>
                        <a:t>2020</a:t>
                      </a:r>
                      <a:endParaRPr sz="1100"/>
                    </a:p>
                  </a:txBody>
                  <a:tcPr marL="0" marR="0" marT="0" marB="0" anchor="ctr" anchorCtr="0"/>
                </a:tc>
                <a:tc>
                  <a:txBody>
                    <a:bodyPr/>
                    <a:p>
                      <a:r>
                        <a:rPr sz="1100"/>
                        <a:t>OpenCV Computer Vision Library</a:t>
                      </a:r>
                      <a:endParaRPr sz="1100"/>
                    </a:p>
                  </a:txBody>
                  <a:tcPr marL="0" marR="0" marT="0" marB="0" anchor="ctr" anchorCtr="0"/>
                </a:tc>
                <a:tc>
                  <a:txBody>
                    <a:bodyPr/>
                    <a:p>
                      <a:r>
                        <a:rPr sz="1100"/>
                        <a:t>Enabled efficient image processing, object detection, and video analysis.</a:t>
                      </a:r>
                      <a:endParaRPr sz="1100"/>
                    </a:p>
                  </a:txBody>
                  <a:tcPr marL="0" marR="0" marT="0" marB="0" anchor="ctr" anchorCtr="0"/>
                </a:tc>
              </a:tr>
              <a:tr h="1025525">
                <a:tc>
                  <a:txBody>
                    <a:bodyPr/>
                    <a:p>
                      <a:pPr algn="ctr"/>
                      <a:r>
                        <a:rPr sz="1100"/>
                        <a:t>6</a:t>
                      </a:r>
                      <a:endParaRPr sz="1100"/>
                    </a:p>
                  </a:txBody>
                  <a:tcPr marL="0" marR="0" marT="0" marB="0" anchor="ctr" anchorCtr="0"/>
                </a:tc>
                <a:tc>
                  <a:txBody>
                    <a:bodyPr/>
                    <a:p>
                      <a:r>
                        <a:rPr sz="1100"/>
                        <a:t>Proposed System</a:t>
                      </a:r>
                      <a:endParaRPr sz="1100"/>
                    </a:p>
                  </a:txBody>
                  <a:tcPr marL="0" marR="0" marT="0" marB="0" anchor="ctr" anchorCtr="0"/>
                </a:tc>
                <a:tc>
                  <a:txBody>
                    <a:bodyPr/>
                    <a:p>
                      <a:pPr algn="ctr"/>
                      <a:r>
                        <a:rPr sz="1100"/>
                        <a:t>2026</a:t>
                      </a:r>
                      <a:endParaRPr sz="1100"/>
                    </a:p>
                  </a:txBody>
                  <a:tcPr marL="0" marR="0" marT="0" marB="0" anchor="ctr" anchorCtr="0"/>
                </a:tc>
                <a:tc>
                  <a:txBody>
                    <a:bodyPr/>
                    <a:p>
                      <a:r>
                        <a:rPr sz="1100"/>
                        <a:t>Deep Learning + OpenCV + Radial Basis Function Network (RBFN)</a:t>
                      </a:r>
                      <a:endParaRPr sz="1100"/>
                    </a:p>
                  </a:txBody>
                  <a:tcPr marL="0" marR="0" marT="0" marB="0" anchor="ctr" anchorCtr="0"/>
                </a:tc>
                <a:tc>
                  <a:txBody>
                    <a:bodyPr/>
                    <a:p>
                      <a:r>
                        <a:rPr sz="1100"/>
                        <a:t>Provides real-time crowd density estimation, anomaly detection, and automatic alert generation with improved accuracy and efficiency.</a:t>
                      </a:r>
                      <a:endParaRPr sz="1100"/>
                    </a:p>
                  </a:txBody>
                  <a:tcPr marL="0" marR="0" marT="0" marB="0" anchor="ctr" anchorCtr="0"/>
                </a:tc>
              </a:tr>
            </a:tbl>
          </a:graphicData>
        </a:graphic>
      </p:graphicFrame>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solidFill>
                  <a:srgbClr val="FF0000"/>
                </a:solidFill>
                <a:latin typeface="Times New Roman" panose="02020603050405020304" charset="0"/>
                <a:cs typeface="Times New Roman" panose="02020603050405020304" charset="0"/>
              </a:rPr>
              <a:t>Problem Statement</a:t>
            </a:r>
            <a:endParaRPr lang="en-US">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algn="just"/>
            <a:r>
              <a:rPr lang="en-US" altLang="en-US">
                <a:latin typeface="Times New Roman" panose="02020603050405020304" charset="0"/>
                <a:cs typeface="Times New Roman" panose="02020603050405020304" charset="0"/>
              </a:rPr>
              <a:t>Manual monitoring of CCTV cameras is time-consuming and prone to human error.</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Existing surveillance systems struggle to accurately estimate crowd density in highly crowded environments.</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Delayed detection of abnormal crowd behavior can lead to accidents, stampedes, and security threats.</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Traditional methods often fail under poor lighting, occlusions, and complex crowd movements.</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There is a need for an intelligent system that can automatically estimate crowd density and detect anomalies in real time.</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The proposed system uses OpenCV and Radial Basis Function Network (RBFN) to provide accurate crowd monitoring and instant alert generation.</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a:solidFill>
                  <a:srgbClr val="FF0000"/>
                </a:solidFill>
              </a:rPr>
              <a:t>Existing System</a:t>
            </a:r>
            <a:endParaRPr lang="en-US">
              <a:solidFill>
                <a:srgbClr val="FF0000"/>
              </a:solidFill>
            </a:endParaRPr>
          </a:p>
        </p:txBody>
      </p:sp>
      <p:sp>
        <p:nvSpPr>
          <p:cNvPr id="3" name="Content Placeholder 2"/>
          <p:cNvSpPr>
            <a:spLocks noGrp="1"/>
          </p:cNvSpPr>
          <p:nvPr>
            <p:ph idx="1"/>
            <p:custDataLst>
              <p:tags r:id="rId2"/>
            </p:custDataLst>
          </p:nvPr>
        </p:nvSpPr>
        <p:spPr/>
        <p:txBody>
          <a:bodyPr/>
          <a:p>
            <a:pPr algn="just"/>
            <a:r>
              <a:rPr lang="en-US" altLang="en-US">
                <a:latin typeface="Times New Roman" panose="02020603050405020304" charset="0"/>
                <a:cs typeface="Times New Roman" panose="02020603050405020304" charset="0"/>
              </a:rPr>
              <a:t>Raditional crowd monitoring systems mainly rely on manual CCTV surveillance by security personnel.</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Computer vision techniques such as Haar Cascade and HOG are used for basic human detection.</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Deep learning models like CNN are used for crowd counting and density estimation.</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Most existing systems require high computational resources and powerful hardware.</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Detection accuracy decreases in dense crowds due to occlusion and overlapping people.</a:t>
            </a:r>
            <a:endParaRPr lang="en-US" altLang="en-US">
              <a:latin typeface="Times New Roman" panose="02020603050405020304" charset="0"/>
              <a:cs typeface="Times New Roman" panose="02020603050405020304" charset="0"/>
            </a:endParaRPr>
          </a:p>
          <a:p>
            <a:pPr algn="just"/>
            <a:r>
              <a:rPr lang="en-US" altLang="en-US">
                <a:latin typeface="Times New Roman" panose="02020603050405020304" charset="0"/>
                <a:cs typeface="Times New Roman" panose="02020603050405020304" charset="0"/>
              </a:rPr>
              <a:t>Many systems are unable to detect abnormal crowd behavior in real time.</a:t>
            </a:r>
            <a:endParaRPr lang="en-US" altLang="en-US">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b="1">
                <a:solidFill>
                  <a:srgbClr val="FF0000"/>
                </a:solidFill>
                <a:latin typeface="Times New Roman" panose="02020603050405020304" charset="0"/>
                <a:cs typeface="Times New Roman" panose="02020603050405020304" charset="0"/>
              </a:rPr>
              <a:t>Proposed System</a:t>
            </a:r>
            <a:endParaRPr 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rmAutofit lnSpcReduction="10000"/>
          </a:bodyPr>
          <a:p>
            <a:r>
              <a:rPr lang="en-US" altLang="en-US">
                <a:solidFill>
                  <a:schemeClr val="tx1"/>
                </a:solidFill>
                <a:latin typeface="Times New Roman" panose="02020603050405020304" charset="0"/>
                <a:cs typeface="Times New Roman" panose="02020603050405020304" charset="0"/>
              </a:rPr>
              <a:t>he proposed system uses OpenCV and Radial Basis Function Network (RBFN) for intelligent crowd monitoring.</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It captures live CCTV or recorded video and preprocesses the frames for analysis.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Human detection and feature extraction are performed using computer vision techniques.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The RBFN model estimates crowd density and classifies it into Low, Medium, and High levels.</a:t>
            </a:r>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The system continuously detects abnormal crowd behavior such as overcrowding, panic movement, and sudden gatherings.</a:t>
            </a:r>
            <a:endParaRPr lang="en-US" altLang="en-US">
              <a:solidFill>
                <a:schemeClr val="tx1"/>
              </a:solidFill>
              <a:latin typeface="Times New Roman" panose="02020603050405020304" charset="0"/>
              <a:cs typeface="Times New Roman" panose="02020603050405020304" charset="0"/>
            </a:endParaRPr>
          </a:p>
          <a:p>
            <a:endParaRPr lang="en-US" altLang="en-US">
              <a:solidFill>
                <a:schemeClr val="tx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b="1">
                <a:solidFill>
                  <a:srgbClr val="FF0000"/>
                </a:solidFill>
                <a:latin typeface="Times New Roman" panose="02020603050405020304" charset="0"/>
                <a:cs typeface="Times New Roman" panose="02020603050405020304" charset="0"/>
              </a:rPr>
              <a:t>SDG-Sustainble development Goal</a:t>
            </a:r>
            <a:endParaRPr 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rmAutofit/>
          </a:bodyPr>
          <a:p>
            <a:pPr marL="0" indent="0">
              <a:buNone/>
            </a:pPr>
            <a:r>
              <a:rPr lang="en-US" altLang="en-US" sz="2000" b="1">
                <a:latin typeface="Times New Roman" panose="02020603050405020304" charset="0"/>
                <a:cs typeface="Times New Roman" panose="02020603050405020304" charset="0"/>
              </a:rPr>
              <a:t>Relevant SDG: Goal 11 – Sustainable Cities and Communities</a:t>
            </a:r>
            <a:endParaRPr lang="en-US" altLang="en-US" sz="2000" b="1">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Supports SDG 11 by improving safety in public spaces through intelligent crowd monitoring.</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Reduces the risk of overcrowding, stampedes, and other crowd-related accidents.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Enables real-time surveillance for better emergency response and disaster management.</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Enhances public security in airports, railway stations, shopping malls, and stadiums.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Promotes the development of smart city infrastructure using AI and computer vision.</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Assists authorities in managing large public gatherings more efficiently.</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Improves the quality of urban life by ensuring safer public environments.</a:t>
            </a:r>
            <a:endParaRPr lang="en-US" altLang="en-US">
              <a:latin typeface="Times New Roman" panose="02020603050405020304" charset="0"/>
              <a:cs typeface="Times New Roman" panose="02020603050405020304" charset="0"/>
            </a:endParaRPr>
          </a:p>
          <a:p>
            <a:r>
              <a:rPr lang="en-US" altLang="en-US">
                <a:latin typeface="Times New Roman" panose="02020603050405020304" charset="0"/>
                <a:cs typeface="Times New Roman" panose="02020603050405020304" charset="0"/>
              </a:rPr>
              <a:t>Contributes to sustainable and resilient cities through advanced surveillance technology</a:t>
            </a:r>
            <a:r>
              <a:rPr lang="en-US" altLang="en-US"/>
              <a:t>.</a:t>
            </a:r>
            <a:endParaRPr lang="en-US" altLang="en-US"/>
          </a:p>
          <a:p>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b="1">
                <a:solidFill>
                  <a:srgbClr val="FF0000"/>
                </a:solidFill>
                <a:latin typeface="Times New Roman" panose="02020603050405020304" charset="0"/>
                <a:cs typeface="Times New Roman" panose="02020603050405020304" charset="0"/>
              </a:rPr>
              <a:t>Design&amp;Module Planning</a:t>
            </a:r>
            <a:endParaRPr 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a:xfrm>
            <a:off x="1223645" y="2349500"/>
            <a:ext cx="10353675" cy="3900170"/>
          </a:xfrm>
        </p:spPr>
        <p:txBody>
          <a:bodyPr/>
          <a:p>
            <a:pPr marL="0" indent="0">
              <a:buNone/>
            </a:pPr>
            <a:r>
              <a:rPr lang="en-US" altLang="en-US" sz="2000">
                <a:latin typeface="Times New Roman" panose="02020603050405020304" charset="0"/>
                <a:cs typeface="Times New Roman" panose="02020603050405020304" charset="0"/>
              </a:rPr>
              <a:t>Module 1: Video Acquisition and Image Preprocessing</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Module 2: Human Detection and Feature Extraction</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Module 3: Crowd Density Estimation Using Radial Basis Function Network (RBFN)</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Module 4: Anomaly Detection and Alert Generation</a:t>
            </a:r>
            <a:endParaRPr lang="en-US" altLang="en-US" sz="2000">
              <a:latin typeface="Times New Roman" panose="02020603050405020304" charset="0"/>
              <a:cs typeface="Times New Roman" panose="02020603050405020304" charset="0"/>
            </a:endParaRPr>
          </a:p>
          <a:p>
            <a:pPr marL="0" indent="0">
              <a:buNone/>
            </a:pPr>
            <a:r>
              <a:rPr lang="en-US" altLang="en-US" sz="2000">
                <a:latin typeface="Times New Roman" panose="02020603050405020304" charset="0"/>
                <a:cs typeface="Times New Roman" panose="02020603050405020304" charset="0"/>
              </a:rPr>
              <a:t>Module 5: Dashboard, Visualization and Report Generation</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b="1">
                <a:solidFill>
                  <a:srgbClr val="FF0000"/>
                </a:solidFill>
                <a:latin typeface="Times New Roman" panose="02020603050405020304" charset="0"/>
                <a:cs typeface="Times New Roman" panose="02020603050405020304" charset="0"/>
              </a:rPr>
              <a:t>Module 1: Video Acquisition and Image Preprocessing</a:t>
            </a:r>
            <a:endParaRPr lang="en-US" alt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buNone/>
            </a:pPr>
            <a:r>
              <a:rPr lang="en-US" altLang="en-US" sz="2000">
                <a:latin typeface="Times New Roman" panose="02020603050405020304" charset="0"/>
                <a:cs typeface="Times New Roman" panose="02020603050405020304" charset="0"/>
              </a:rPr>
              <a:t>This module is responsible for capturing live CCTV or recorded surveillance videos and converting them into individual frames for analysis. Using OpenCV, the system performs image preprocessing techniques such as resizing, noise removal, brightness adjustment, and normalization to improve image quality. Proper preprocessing helps increase the accuracy of human detection and crowd analysis in later stages.</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Capture live CCTV or recorded surveillance videos.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Extract and preprocess video frames using OpenCV.</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Remove noise and enhance image quality for better analysis.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Prepare high-quality input data for the next processing stage.</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b="1">
                <a:solidFill>
                  <a:srgbClr val="FF0000"/>
                </a:solidFill>
                <a:latin typeface="Times New Roman" panose="02020603050405020304" charset="0"/>
                <a:cs typeface="Times New Roman" panose="02020603050405020304" charset="0"/>
              </a:rPr>
              <a:t>Module 2: Human Detection and Feature Extraction</a:t>
            </a:r>
            <a:endParaRPr lang="en-US" alt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buNone/>
            </a:pPr>
            <a:r>
              <a:rPr lang="en-US" altLang="en-US" sz="2000">
                <a:latin typeface="Times New Roman" panose="02020603050405020304" charset="0"/>
                <a:cs typeface="Times New Roman" panose="02020603050405020304" charset="0"/>
              </a:rPr>
              <a:t>This module detects people present in each video frame using computer vision techniques. After detection, important features such as the number of people, their positions, movement patterns, and spatial information are extracted. These features are used by the RBFN model to estimate crowd density accurately.</a:t>
            </a:r>
            <a:endParaRPr lang="en-US" altLang="en-US" sz="2000">
              <a:latin typeface="Times New Roman" panose="02020603050405020304" charset="0"/>
              <a:cs typeface="Times New Roman" panose="02020603050405020304" charset="0"/>
            </a:endParaRPr>
          </a:p>
          <a:p>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Detect human objects from surveillance video frames.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Extract movement, position, and crowd-related features.</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Count the number of people in each frame.</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rPr>
              <a:t>Prepare extracted features for crowd density estimation</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b="1">
                <a:solidFill>
                  <a:srgbClr val="FF0000"/>
                </a:solidFill>
                <a:latin typeface="Times New Roman" panose="02020603050405020304" charset="0"/>
                <a:cs typeface="Times New Roman" panose="02020603050405020304" charset="0"/>
              </a:rPr>
              <a:t>Module 3: Crowd Density Estimation Using Radial Basis Function Network (RBFN)</a:t>
            </a:r>
            <a:endParaRPr lang="en-US" alt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lgn="just">
              <a:buNone/>
            </a:pPr>
            <a:r>
              <a:rPr lang="en-US" altLang="en-US" sz="2000">
                <a:latin typeface="Times New Roman" panose="02020603050405020304" charset="0"/>
                <a:cs typeface="Times New Roman" panose="02020603050405020304" charset="0"/>
              </a:rPr>
              <a:t>This module uses the Radial Basis Function Network (RBFN) to estimate crowd density based on the extracted features. The trained model analyzes crowd characteristics and classifies density into Low, Medium, or High levels. The results are displayed in real time for effective crowd monitoring and management.</a:t>
            </a:r>
            <a:endParaRPr lang="en-US" altLang="en-US" sz="2000">
              <a:latin typeface="Times New Roman" panose="02020603050405020304" charset="0"/>
              <a:cs typeface="Times New Roman" panose="02020603050405020304" charset="0"/>
            </a:endParaRPr>
          </a:p>
          <a:p>
            <a:pPr algn="just"/>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Train and test the Radial Basis Function Network model.</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Estimate crowd density from extracted features.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Classify density into Low, Medium, and High levels.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Display accurate crowd density results in real time.</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b="1">
                <a:solidFill>
                  <a:srgbClr val="FF0000"/>
                </a:solidFill>
                <a:latin typeface="Times New Roman" panose="02020603050405020304" charset="0"/>
                <a:cs typeface="Times New Roman" panose="02020603050405020304" charset="0"/>
              </a:rPr>
              <a:t>Module 4: Anomaly Detection and Alert Generation</a:t>
            </a:r>
            <a:endParaRPr lang="en-US" alt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lgn="just">
              <a:buNone/>
            </a:pPr>
            <a:r>
              <a:rPr lang="en-US" altLang="en-US" sz="2000">
                <a:latin typeface="Times New Roman" panose="02020603050405020304" charset="0"/>
                <a:cs typeface="Times New Roman" panose="02020603050405020304" charset="0"/>
              </a:rPr>
              <a:t>This module continuously analyzes crowd movement and behavior to detect abnormal situations such as overcrowding, sudden gatherings, panic movement, or restricted-area intrusion. When an unusual event is detected, the system immediately generates warning alerts, enabling security personnel to respond quickly and prevent potential accidents.</a:t>
            </a:r>
            <a:endParaRPr lang="en-US" altLang="en-US" sz="2000">
              <a:latin typeface="Times New Roman" panose="02020603050405020304" charset="0"/>
              <a:cs typeface="Times New Roman" panose="02020603050405020304" charset="0"/>
            </a:endParaRPr>
          </a:p>
          <a:p>
            <a:pPr algn="just"/>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Monitor crowd behavior continuously for unusual activities.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Detect overcrowding, panic movement, and abnormal events.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Generate instant alerts for security personnel.</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Improve emergency response and public safety.</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normAutofit fontScale="90000"/>
          </a:bodyPr>
          <a:p>
            <a:r>
              <a:rPr lang="en-US" altLang="en-US" b="1">
                <a:solidFill>
                  <a:srgbClr val="FF0000"/>
                </a:solidFill>
                <a:latin typeface="Times New Roman" panose="02020603050405020304" charset="0"/>
                <a:cs typeface="Times New Roman" panose="02020603050405020304" charset="0"/>
              </a:rPr>
              <a:t>Module 5: Dashboard, Visualization and Report Generation</a:t>
            </a:r>
            <a:endParaRPr lang="en-US" alt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p>
            <a:pPr marL="0" indent="0" algn="just">
              <a:buNone/>
            </a:pPr>
            <a:r>
              <a:rPr lang="en-US" altLang="en-US" sz="2000">
                <a:latin typeface="Times New Roman" panose="02020603050405020304" charset="0"/>
                <a:cs typeface="Times New Roman" panose="02020603050405020304" charset="0"/>
              </a:rPr>
              <a:t>This module provides a user-friendly dashboard that displays live surveillance video, crowd density levels, and anomaly detection results. It also stores surveillance logs and generates analytical reports that help authorities review crowd conditions and make better management decisions.</a:t>
            </a:r>
            <a:endParaRPr lang="en-US" altLang="en-US" sz="2000">
              <a:latin typeface="Times New Roman" panose="02020603050405020304" charset="0"/>
              <a:cs typeface="Times New Roman" panose="02020603050405020304" charset="0"/>
            </a:endParaRPr>
          </a:p>
          <a:p>
            <a:pPr algn="just"/>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Display live crowd monitoring through an interactive dashboard.</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Show real-time crowd density and anomaly statistics.</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Store surveillance records and event history.</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Generate reports for analysis and decision-making</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pPr algn="ctr"/>
            <a:r>
              <a:rPr lang="en-US" b="1">
                <a:solidFill>
                  <a:srgbClr val="FF0000"/>
                </a:solidFill>
                <a:latin typeface="Times New Roman" panose="02020603050405020304" charset="0"/>
                <a:cs typeface="Times New Roman" panose="02020603050405020304" charset="0"/>
              </a:rPr>
              <a:t>conclusion</a:t>
            </a:r>
            <a:endParaRPr lang="en-US" b="1">
              <a:solidFill>
                <a:srgbClr val="FF0000"/>
              </a:solidFill>
              <a:latin typeface="Times New Roman" panose="02020603050405020304" charset="0"/>
              <a:cs typeface="Times New Roman" panose="02020603050405020304" charset="0"/>
            </a:endParaRPr>
          </a:p>
        </p:txBody>
      </p:sp>
      <p:sp>
        <p:nvSpPr>
          <p:cNvPr id="3" name="Content Placeholder 2"/>
          <p:cNvSpPr>
            <a:spLocks noGrp="1"/>
          </p:cNvSpPr>
          <p:nvPr>
            <p:ph idx="1"/>
            <p:custDataLst>
              <p:tags r:id="rId2"/>
            </p:custDataLst>
          </p:nvPr>
        </p:nvSpPr>
        <p:spPr/>
        <p:txBody>
          <a:bodyPr>
            <a:noAutofit/>
          </a:bodyPr>
          <a:p>
            <a:pPr algn="just"/>
            <a:r>
              <a:rPr lang="en-US" altLang="en-US" sz="2000">
                <a:latin typeface="Times New Roman" panose="02020603050405020304" charset="0"/>
                <a:cs typeface="Times New Roman" panose="02020603050405020304" charset="0"/>
              </a:rPr>
              <a:t>Developed an intelligent system for real-time crowd density estimation and anomaly detection.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Used OpenCV for video processing, human detection, and feature extraction.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Applied the Radial Basis Function Network (RBFN) for accurate crowd density classification.</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Detected abnormal crowd behavior such as overcrowding and panic movement.</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Generated instant alerts to improve emergency response and public safety.</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Reduced manual surveillance through automated intelligent monitoring.</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Improved accuracy, efficiency, and reliability of crowd management.</a:t>
            </a:r>
            <a:endParaRPr lang="en-US" altLang="en-US" sz="2000">
              <a:latin typeface="Times New Roman" panose="02020603050405020304" charset="0"/>
              <a:cs typeface="Times New Roman" panose="02020603050405020304" charset="0"/>
            </a:endParaRPr>
          </a:p>
          <a:p>
            <a:pPr algn="just"/>
            <a:r>
              <a:rPr lang="en-US" altLang="en-US" sz="2000">
                <a:latin typeface="Times New Roman" panose="02020603050405020304" charset="0"/>
                <a:cs typeface="Times New Roman" panose="02020603050405020304" charset="0"/>
              </a:rPr>
              <a:t>Suitable for smart cities, airports, railway stations, stadiums, and other public places.</a:t>
            </a:r>
            <a:endParaRPr lang="en-US" altLang="en-US" sz="2000">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endParaRPr lang="en-US"/>
          </a:p>
        </p:txBody>
      </p:sp>
      <p:sp>
        <p:nvSpPr>
          <p:cNvPr id="3" name="Content Placeholder 2"/>
          <p:cNvSpPr>
            <a:spLocks noGrp="1"/>
          </p:cNvSpPr>
          <p:nvPr>
            <p:ph idx="1"/>
            <p:custDataLst>
              <p:tags r:id="rId2"/>
            </p:custDataLst>
          </p:nvPr>
        </p:nvSpPr>
        <p:spPr/>
        <p:txBody>
          <a:bodyPr/>
          <a:p>
            <a:endParaRPr 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 name="TABLE_ENDDRAG_ORIGIN_RECT" val="863*385"/>
  <p:tag name="TABLE_ENDDRAG_RECT" val="47*117*863*385"/>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1.xml><?xml version="1.0" encoding="utf-8"?>
<p:tagLst xmlns:p="http://schemas.openxmlformats.org/presentationml/2006/main">
  <p:tag name="KSO_WM_BEAUTIFY_FLAG" val="#wm#"/>
  <p:tag name="KSO_WM_TEMPLATE_CATEGORY" val="custom"/>
  <p:tag name="KSO_WM_TEMPLATE_INDEX" val="2020508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4.xml><?xml version="1.0" encoding="utf-8"?>
<p:tagLst xmlns:p="http://schemas.openxmlformats.org/presentationml/2006/main">
  <p:tag name="KSO_WM_BEAUTIFY_FLAG" val="#wm#"/>
  <p:tag name="KSO_WM_TEMPLATE_CATEGORY" val="custom"/>
  <p:tag name="KSO_WM_TEMPLATE_INDEX" val="2020508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0.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8855</Words>
  <Application>WPS Presentation</Application>
  <PresentationFormat>Widescreen</PresentationFormat>
  <Paragraphs>208</Paragraphs>
  <Slides>16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Wingdings</vt:lpstr>
      <vt:lpstr>Microsoft YaHei</vt:lpstr>
      <vt:lpstr>Arial Unicode MS</vt:lpstr>
      <vt:lpstr>Calibri</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Crowd Density Estimation and Anomaly Detection System Using Radial Basis Function Network (RBFN) with Open CV</dc:title>
  <dc:creator>moksh</dc:creator>
  <cp:lastModifiedBy>moksh</cp:lastModifiedBy>
  <cp:revision>1</cp:revision>
  <dcterms:created xsi:type="dcterms:W3CDTF">2026-08-03T05:25:44Z</dcterms:created>
  <dcterms:modified xsi:type="dcterms:W3CDTF">2026-08-03T05:25:44Z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86D7F7AB41094C04B34281E97BC192A9_11</vt:lpwstr>
  </property>
</Properties>
</file>